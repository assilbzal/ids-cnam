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62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Feature Selection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920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Intrusion Detection Systems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CICFlowMeter · CICIDS2017 · Machine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Fadia Minkara,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Assil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1FFA62-01FA-4491-89F0-F7681E76A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-15825"/>
            <a:ext cx="1479620" cy="1481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CICIDS2017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with CICFlowMeter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per Attack Type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 Evaluation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783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Findings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606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The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networks generate millions of packets per second — making real-time attack detection computationally expensive.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all 80 raw features is: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to train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intensive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Prone to overfitting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34747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Our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minimal, high-impact feature subset for each attack type that: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Maintains detection accuracy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Reduces training 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Works across 7 ML algorithms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CICIDS2017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0805" y="96012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916" y="96589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</a:rPr>
              <a:t>~2.8M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4814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</a:rPr>
              <a:t>Network flows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965898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960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</a:rPr>
              <a:t>80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97329" y="172781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</a:rPr>
              <a:t>Features per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094" y="960120"/>
            <a:ext cx="19202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6254094" y="960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</a:rPr>
              <a:t>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26964" y="172781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</a:rPr>
              <a:t>Traffic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960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Attack types included: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  ·   DoS Hulk   ·   DoS GoldenEye   ·   DoS Slowloris   ·   DoS Slowhttptest   ·   FTP-Patator   ·   SSH-Patator   ·   Web Attack – Brute Force   ·   Web Attack – XSS   ·   Web Attack – SQL Injection   ·   Infiltration   ·   Bot   ·   PortScan   ·   DDoS   ·    Heartbleed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Dataset integrity verified via MD5 checksums after download.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CICFlowMeter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98574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Install Java JDK 8 + 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4879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487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5356" y="17602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Clone CICFlowMeter repository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5453" y="20287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from github.com/ahlashkari/CICFlowMeter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17112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1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356" y="252891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Install jnetpcap locally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5356" y="280323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Native packet-capture library via Maven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Install Npcap driver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9827" y="4158008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827" y="4158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5453" y="414318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Build with Gradle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5453" y="4386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gradlew.bat distZip → CICFlowMeter.zip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83206" y="911637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3206" y="9302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06203" y="92294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Run GUI on .pcap files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06203" y="120555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Outputs 80-feature CSV per captured session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B1BD8C3-712E-489E-88C2-FFA349F30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58" y="1560006"/>
            <a:ext cx="5227482" cy="3396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— Per Attack 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6576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</a:rPr>
              <a:t>Method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attack, we train a binary classifier: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Attack vs. All Others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 rank all 80 features. The top 10 most discriminative features are selected per attack.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produces a compact, attack-specific feature profile.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Example: DoS Hulk → Top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2F"/>
                </a:solidFill>
              </a:rPr>
              <a:t>Feature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1463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252F"/>
                </a:solidFill>
              </a:rPr>
              <a:t>Importance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39" y="1920240"/>
            <a:ext cx="2651759" cy="256032"/>
          </a:xfrm>
          <a:prstGeom prst="rect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874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F72"/>
                </a:solidFill>
              </a:rPr>
              <a:t>0.276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39" y="2331720"/>
            <a:ext cx="2342773" cy="256032"/>
          </a:xfrm>
          <a:prstGeom prst="rect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Idle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22860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F72"/>
                </a:solidFill>
              </a:rPr>
              <a:t>0.184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743200"/>
            <a:ext cx="2021226" cy="256032"/>
          </a:xfrm>
          <a:prstGeom prst="rect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697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Destination 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6974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F72"/>
                </a:solidFill>
              </a:rPr>
              <a:t>0.119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154680"/>
            <a:ext cx="1739872" cy="256032"/>
          </a:xfrm>
          <a:prstGeom prst="rect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0896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Flow IAT Mean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31089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F72"/>
                </a:solidFill>
              </a:rPr>
              <a:t>0.092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566160"/>
            <a:ext cx="1498712" cy="256032"/>
          </a:xfrm>
          <a:prstGeom prst="rect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520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252F"/>
                </a:solidFill>
              </a:rPr>
              <a:t>Bwd</a:t>
            </a:r>
            <a:r>
              <a:rPr lang="en-US" sz="1100" dirty="0">
                <a:solidFill>
                  <a:srgbClr val="1A252F"/>
                </a:solidFill>
              </a:rPr>
              <a:t> Packet Length Std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520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F72"/>
                </a:solidFill>
              </a:rPr>
              <a:t>0.081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AF27F2-BE3E-442B-B96C-4A1003C599B4}"/>
              </a:ext>
            </a:extLst>
          </p:cNvPr>
          <p:cNvSpPr txBox="1"/>
          <p:nvPr/>
        </p:nvSpPr>
        <p:spPr>
          <a:xfrm>
            <a:off x="4933188" y="1926620"/>
            <a:ext cx="145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 err="1"/>
              <a:t>Idle</a:t>
            </a:r>
            <a:r>
              <a:rPr lang="fr-FR" sz="1100" dirty="0"/>
              <a:t> Mean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 Evaluation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</a:rPr>
              <a:t>7 Algorithms Compared — on the Reduced Feature 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6858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K-Nearest Neighbors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Instance-based, proximity voting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6858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05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130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450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Ensemble of decision trees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6858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266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ID3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ID3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346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Information gain splitting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6858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22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AdaBoost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22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Adaptive Boosting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242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Weak learner ensemble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234440"/>
            <a:ext cx="6858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34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MLP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Multilayer Perceptron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Multi-layer perceptron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130552"/>
            <a:ext cx="6858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305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130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Naïve Bayes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450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Probabilistic, Gaussian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026664"/>
            <a:ext cx="6858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0266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Quadratic Discriminant 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3346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Quadratic decision boundaries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</a:rPr>
              <a:t>Metrics: Precision · Recall · F1-Score · Execution Time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801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Merged CICIDS2017 files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latin1 encoding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54480" y="1508760"/>
            <a:ext cx="18288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005840"/>
            <a:ext cx="128016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417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Remove ∞, NaN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Strip column whitespace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508760"/>
            <a:ext cx="18288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12801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3716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Load all_attacks_top_features.csv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Extract unique feature names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1508760"/>
            <a:ext cx="18288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05840"/>
            <a:ext cx="128016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Split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417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60% train / 20% validation / 20% test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1508760"/>
            <a:ext cx="18288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05840"/>
            <a:ext cx="12801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&amp; Predict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417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All 7 models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06640" y="1508760"/>
            <a:ext cx="18288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05840"/>
            <a:ext cx="128016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Export Results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1417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Performance_Examination.csv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</a:rPr>
              <a:t>Pr · Rc · F1 · 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331720"/>
            <a:ext cx="8412480" cy="246888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51460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start_time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Training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.fit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Validation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y_val_pred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.predict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X_val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val_precision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precision_score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y_val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y_val_pred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'weighted’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zero_division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val_recall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recall_score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y_val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y_val_pred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'weighted’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zero_division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val_f1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f1_score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y_val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y_val_pred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'weighted’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zero_division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Algorithm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914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914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F1-Score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914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Exec.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466344"/>
          </a:xfrm>
          <a:prstGeom prst="rect">
            <a:avLst/>
          </a:prstGeom>
          <a:solidFill>
            <a:srgbClr val="F8FA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2588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KNN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325880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0.974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325880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0.975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325880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0.975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325880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~22 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792224"/>
            <a:ext cx="84124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92224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RF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1792224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</a:rPr>
              <a:t>0.997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1792224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</a:rPr>
              <a:t>0.997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792224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</a:rPr>
              <a:t>0.997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792224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~6.63 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258568"/>
            <a:ext cx="8412480" cy="466344"/>
          </a:xfrm>
          <a:prstGeom prst="rect">
            <a:avLst/>
          </a:prstGeom>
          <a:solidFill>
            <a:srgbClr val="F8FA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58568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ID3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2258568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0.997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258568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0.997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258568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0.997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258568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~4.2 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724912"/>
            <a:ext cx="84124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24912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AdaBoost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0" y="2724912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0.850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0" y="2724912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0.902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2724912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0.874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2724912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~21 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191256"/>
            <a:ext cx="8412480" cy="466344"/>
          </a:xfrm>
          <a:prstGeom prst="rect">
            <a:avLst/>
          </a:prstGeom>
          <a:solidFill>
            <a:srgbClr val="F8FA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191256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MLP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28800" y="3191256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0.972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3191256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0.971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0640" y="3191256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0.971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6560" y="3191256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~51 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0"/>
            <a:ext cx="84124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5760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Naïve Bayes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828800" y="3657600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0.885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74720" y="3657600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0.174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20640" y="3657600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0.221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66560" y="3657600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~1.06 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123944"/>
            <a:ext cx="8412480" cy="466344"/>
          </a:xfrm>
          <a:prstGeom prst="rect">
            <a:avLst/>
          </a:prstGeom>
          <a:solidFill>
            <a:srgbClr val="F8FA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123944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QDA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828800" y="4123944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0.982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74720" y="4123944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0.963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20640" y="4123944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0.971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66560" y="4123944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52F"/>
                </a:solidFill>
              </a:rPr>
              <a:t>~1.77 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73152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80 features 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CICFlowMeter on real PCAP captures from CICIDS2017.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039112"/>
            <a:ext cx="73152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47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top-10 features per attack 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Random Forest importance scores.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752344"/>
            <a:ext cx="73152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6090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feature set 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high accuracy.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465576"/>
            <a:ext cx="73152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741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ID3 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at F1= 0.997, with ID3 being the faster choice at 4.2s vs 6.63s.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4178808"/>
            <a:ext cx="73152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87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 is 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unsuitable despite its speed, a recall of 0.174 means it misses most attacks.</a:t>
            </a:r>
            <a:r>
              <a:rPr lang="en-US" sz="1400" dirty="0"/>
              <a:t> </a:t>
            </a:r>
          </a:p>
        </p:txBody>
      </p:sp>
      <p:sp>
        <p:nvSpPr>
          <p:cNvPr id="14" name="Text 12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778</Words>
  <Application>Microsoft Office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Traffic Feature Selection for Intrusion Detection</dc:title>
  <dc:subject>PptxGenJS Presentation</dc:subject>
  <dc:creator>PptxGenJS</dc:creator>
  <cp:lastModifiedBy>Fadia Minkara</cp:lastModifiedBy>
  <cp:revision>8</cp:revision>
  <dcterms:created xsi:type="dcterms:W3CDTF">2026-04-25T20:21:35Z</dcterms:created>
  <dcterms:modified xsi:type="dcterms:W3CDTF">2026-04-26T17:24:17Z</dcterms:modified>
</cp:coreProperties>
</file>